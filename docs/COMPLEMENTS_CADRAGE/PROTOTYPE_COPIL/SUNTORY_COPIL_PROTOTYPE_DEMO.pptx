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k€</c:v>
                </c:pt>
              </c:strCache>
            </c:strRef>
          </c:tx>
          <c:spPr>
            <a:solidFill>
              <a:srgbClr val="1B1C88"/>
            </a:solidFill>
          </c:spPr>
          <c:cat>
            <c:strRef>
              <c:f>Sheet1!$A$2:$A$5</c:f>
              <c:strCache>
                <c:ptCount val="4"/>
                <c:pt idx="0">
                  <c:v>Quota</c:v>
                </c:pt>
                <c:pt idx="1">
                  <c:v>Consommé</c:v>
                </c:pt>
                <c:pt idx="2">
                  <c:v>Prévisionnel</c:v>
                </c:pt>
                <c:pt idx="3">
                  <c:v>Restant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2650</c:v>
                </c:pt>
                <c:pt idx="1">
                  <c:v>1881</c:v>
                </c:pt>
                <c:pt idx="2">
                  <c:v>589</c:v>
                </c:pt>
                <c:pt idx="3">
                  <c:v>180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08071E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Consommé</c:v>
                </c:pt>
              </c:strCache>
            </c:strRef>
          </c:tx>
          <c:spPr>
            <a:solidFill>
              <a:srgbClr val="1B1C88"/>
            </a:solidFill>
          </c:spPr>
          <c:cat>
            <c:strRef>
              <c:f>Sheet1!$A$2:$A$12</c:f>
              <c:strCache>
                <c:ptCount val="11"/>
                <c:pt idx="0">
                  <c:v>Fév</c:v>
                </c:pt>
                <c:pt idx="1">
                  <c:v>Mar</c:v>
                </c:pt>
                <c:pt idx="2">
                  <c:v>Avr</c:v>
                </c:pt>
                <c:pt idx="3">
                  <c:v>Mai</c:v>
                </c:pt>
                <c:pt idx="4">
                  <c:v>Juin</c:v>
                </c:pt>
                <c:pt idx="5">
                  <c:v>Juil</c:v>
                </c:pt>
                <c:pt idx="6">
                  <c:v>Août</c:v>
                </c:pt>
                <c:pt idx="7">
                  <c:v>Sep</c:v>
                </c:pt>
                <c:pt idx="8">
                  <c:v>Oct</c:v>
                </c:pt>
                <c:pt idx="9">
                  <c:v>Nov</c:v>
                </c:pt>
                <c:pt idx="10">
                  <c:v>Déc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180</c:v>
                </c:pt>
                <c:pt idx="1">
                  <c:v>230</c:v>
                </c:pt>
                <c:pt idx="2">
                  <c:v>260</c:v>
                </c:pt>
                <c:pt idx="3">
                  <c:v>310</c:v>
                </c:pt>
                <c:pt idx="4">
                  <c:v>300</c:v>
                </c:pt>
                <c:pt idx="5">
                  <c:v>290</c:v>
                </c:pt>
                <c:pt idx="6">
                  <c:v>250</c:v>
                </c:pt>
                <c:pt idx="7">
                  <c:v>270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Prévisionnel</c:v>
                </c:pt>
              </c:strCache>
            </c:strRef>
          </c:tx>
          <c:spPr>
            <a:solidFill>
              <a:srgbClr val="E52365"/>
            </a:solidFill>
          </c:spPr>
          <c:cat>
            <c:strRef>
              <c:f>Sheet1!$A$2:$A$12</c:f>
              <c:strCache>
                <c:ptCount val="11"/>
                <c:pt idx="0">
                  <c:v>Fév</c:v>
                </c:pt>
                <c:pt idx="1">
                  <c:v>Mar</c:v>
                </c:pt>
                <c:pt idx="2">
                  <c:v>Avr</c:v>
                </c:pt>
                <c:pt idx="3">
                  <c:v>Mai</c:v>
                </c:pt>
                <c:pt idx="4">
                  <c:v>Juin</c:v>
                </c:pt>
                <c:pt idx="5">
                  <c:v>Juil</c:v>
                </c:pt>
                <c:pt idx="6">
                  <c:v>Août</c:v>
                </c:pt>
                <c:pt idx="7">
                  <c:v>Sep</c:v>
                </c:pt>
                <c:pt idx="8">
                  <c:v>Oct</c:v>
                </c:pt>
                <c:pt idx="9">
                  <c:v>Nov</c:v>
                </c:pt>
                <c:pt idx="10">
                  <c:v>Déc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200</c:v>
                </c:pt>
                <c:pt idx="9">
                  <c:v>205</c:v>
                </c:pt>
                <c:pt idx="10">
                  <c:v>195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/>
                  <a:t>k€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08071E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consommé</c:v>
                </c:pt>
              </c:strCache>
            </c:strRef>
          </c:tx>
          <c:spPr>
            <a:solidFill>
              <a:srgbClr val="1B1C88"/>
            </a:solidFill>
          </c:spPr>
          <c:dPt>
            <c:idx val="0"/>
            <c:spPr>
              <a:solidFill>
                <a:srgbClr val="08071E"/>
              </a:solidFill>
            </c:spPr>
          </c:dPt>
          <c:cat>
            <c:strRef>
              <c:f>Sheet1!$A$2:$A$7</c:f>
              <c:strCache>
                <c:ptCount val="6"/>
                <c:pt idx="0">
                  <c:v>Région 1</c:v>
                </c:pt>
                <c:pt idx="1">
                  <c:v>Région 2</c:v>
                </c:pt>
                <c:pt idx="2">
                  <c:v>Région 3</c:v>
                </c:pt>
                <c:pt idx="3">
                  <c:v>Région 4</c:v>
                </c:pt>
                <c:pt idx="4">
                  <c:v>Région 5</c:v>
                </c:pt>
                <c:pt idx="5">
                  <c:v>Région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104</c:v>
                </c:pt>
                <c:pt idx="1">
                  <c:v>96</c:v>
                </c:pt>
                <c:pt idx="2">
                  <c:v>88</c:v>
                </c:pt>
                <c:pt idx="3">
                  <c:v>74</c:v>
                </c:pt>
                <c:pt idx="4">
                  <c:v>61</c:v>
                </c:pt>
                <c:pt idx="5">
                  <c:v>38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08071E"/>
          </a:solidFill>
          <a:latin typeface="Inter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Couverture générée. Titre, période et statut des données viennent des paramètres du rapport.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Titre-conclusion généré par règle à partir de l'indicateur % consommé. Seuils paramétrables (100 %, 90 %, 40 %).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Graphique natif PowerPoint, modifiable. Type de graphique choisi selon la règle : évolution dans le temps = colonnes empilées.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Liste préparée à partir des alertes d'arbitrage. Le texte est relu par l'agence avant publication.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7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94960"/>
            <a:ext cx="12191695" cy="109728"/>
          </a:xfrm>
          <a:prstGeom prst="rect">
            <a:avLst/>
          </a:prstGeom>
          <a:solidFill>
            <a:srgbClr val="E52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Inter"/>
              </a:rPr>
              <a:t>Point COPIL · Pilotage merchandising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>
                <a:solidFill>
                  <a:srgbClr val="FFC2D5"/>
                </a:solidFill>
                <a:latin typeface="Inter"/>
              </a:rPr>
              <a:t>Exemple généré automatiquement à partir de données fictives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Inter"/>
              </a:rPr>
              <a:t>DÉMO · aucune donnée réelle · modèle de mise en page à valider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2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08071E"/>
                </a:solidFill>
                <a:latin typeface="Inter"/>
              </a:rPr>
              <a:t>Le budget est consommé à 71 %, le prévisionnel porte l'atterrissage à 93 %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Inter"/>
              </a:rPr>
              <a:t>Synthèse du périmètre national · quota 2 650 k€ (exemple)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Inter"/>
              </a:rPr>
              <a:t>DÉMO · données fictives · statut des données : fictif · période : T4 2026 (exemple)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Inter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26517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4688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E52365"/>
                </a:solidFill>
                <a:latin typeface="Inter"/>
              </a:rPr>
              <a:t>71 %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24688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08071E"/>
                </a:solidFill>
                <a:latin typeface="Inter"/>
              </a:rPr>
              <a:t>consommé du quota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920240"/>
            <a:ext cx="26517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965960"/>
            <a:ext cx="24688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E52365"/>
                </a:solidFill>
                <a:latin typeface="Inter"/>
              </a:rPr>
              <a:t>93 %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880360"/>
            <a:ext cx="24688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08071E"/>
                </a:solidFill>
                <a:latin typeface="Inter"/>
              </a:rPr>
              <a:t>consommé + prévisionnel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920240"/>
            <a:ext cx="26517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965960"/>
            <a:ext cx="24688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E52365"/>
                </a:solidFill>
                <a:latin typeface="Inter"/>
              </a:rPr>
              <a:t>180 k€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880360"/>
            <a:ext cx="24688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08071E"/>
                </a:solidFill>
                <a:latin typeface="Inter"/>
              </a:rPr>
              <a:t>restant après prévisionnel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1920240"/>
            <a:ext cx="26517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965960"/>
            <a:ext cx="24688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E52365"/>
                </a:solidFill>
                <a:latin typeface="Inter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880360"/>
            <a:ext cx="24688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08071E"/>
                </a:solidFill>
                <a:latin typeface="Inter"/>
              </a:rPr>
              <a:t>points d'attention</a:t>
            </a:r>
          </a:p>
        </p:txBody>
      </p:sp>
      <p:graphicFrame>
        <p:nvGraphicFramePr>
          <p:cNvPr id="19" name="Chart 18" descr="Barres : quota 2650, consommé 1881, prévisionnel 589, restant 180, en k euros (données fictives)"/>
          <p:cNvGraphicFramePr>
            <a:graphicFrameLocks noGrp="1"/>
          </p:cNvGraphicFramePr>
          <p:nvPr/>
        </p:nvGraphicFramePr>
        <p:xfrm>
          <a:off x="548640" y="3749039"/>
          <a:ext cx="67665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Rectangle 19"/>
          <p:cNvSpPr/>
          <p:nvPr/>
        </p:nvSpPr>
        <p:spPr>
          <a:xfrm>
            <a:off x="7589520" y="3749039"/>
            <a:ext cx="402336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79" y="3794760"/>
            <a:ext cx="374903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E52365"/>
                </a:solidFill>
                <a:latin typeface="Inter"/>
              </a:rPr>
              <a:t>À retenir (généré par règles)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4206240"/>
            <a:ext cx="3749039" cy="2103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08071E"/>
                </a:solidFill>
                <a:latin typeface="Inter"/>
              </a:rPr>
              <a:t>Le prévisionnel reste sous le seuil de dépassement (100 %).</a:t>
            </a:r>
          </a:p>
          <a:p>
            <a:pPr algn="l"/>
            <a:r>
              <a:rPr sz="1400" b="0">
                <a:solidFill>
                  <a:srgbClr val="08071E"/>
                </a:solidFill>
                <a:latin typeface="Inter"/>
              </a:rPr>
              <a:t>2 CVR dépassent le seuil de vigilance (90 %).</a:t>
            </a:r>
          </a:p>
          <a:p>
            <a:pPr algn="l"/>
            <a:r>
              <a:rPr sz="1400" b="0">
                <a:solidFill>
                  <a:srgbClr val="08071E"/>
                </a:solidFill>
                <a:latin typeface="Inter"/>
              </a:rPr>
              <a:t>1 réallocation validée ce mois-ci.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2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08071E"/>
                </a:solidFill>
                <a:latin typeface="Inter"/>
              </a:rPr>
              <a:t>Le prévisionnel d'octobre à décembre reste stable autour de 200 k€ par mois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Inter"/>
              </a:rPr>
              <a:t>Évolution mensuelle consommé et prévisionnel (exemple)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Inter"/>
              </a:rPr>
              <a:t>DÉMO · données fictives · statut des données : fictif · période : T4 2026 (exemple)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Inter"/>
              </a:rPr>
              <a:t>3</a:t>
            </a:r>
          </a:p>
        </p:txBody>
      </p:sp>
      <p:graphicFrame>
        <p:nvGraphicFramePr>
          <p:cNvPr id="7" name="Chart 6" descr="Colonnes empilées par mois, consommé de février à septembre puis prévisionnel d'octobre à décembre, valeurs fictives en k euros"/>
          <p:cNvGraphicFramePr>
            <a:graphicFrameLocks noGrp="1"/>
          </p:cNvGraphicFramePr>
          <p:nvPr/>
        </p:nvGraphicFramePr>
        <p:xfrm>
          <a:off x="548640" y="1874519"/>
          <a:ext cx="1106424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2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08071E"/>
                </a:solidFill>
                <a:latin typeface="Inter"/>
              </a:rPr>
              <a:t>Trois décisions sont attendues du COPIL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Inter"/>
              </a:rPr>
              <a:t>Classement des secteurs par taux de consommation · décisions préparées automatiquement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Inter"/>
              </a:rPr>
              <a:t>DÉMO · données fictives · statut des données : fictif · période : T4 2026 (exemple)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Inter"/>
              </a:rPr>
              <a:t>4</a:t>
            </a:r>
          </a:p>
        </p:txBody>
      </p:sp>
      <p:graphicFrame>
        <p:nvGraphicFramePr>
          <p:cNvPr id="7" name="Chart 6" descr="Barres horizontales du taux consommé par région fictive : 104, 96, 88, 74, 61, 38 pour cent"/>
          <p:cNvGraphicFramePr>
            <a:graphicFrameLocks noGrp="1"/>
          </p:cNvGraphicFramePr>
          <p:nvPr/>
        </p:nvGraphicFramePr>
        <p:xfrm>
          <a:off x="548640" y="1874519"/>
          <a:ext cx="58521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6675120" y="1874519"/>
            <a:ext cx="493776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920240"/>
            <a:ext cx="4663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E52365"/>
                </a:solidFill>
                <a:latin typeface="Inter"/>
              </a:rPr>
              <a:t>Décisions à prendre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377440"/>
            <a:ext cx="4663440" cy="37490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08071E"/>
                </a:solidFill>
                <a:latin typeface="Inter"/>
              </a:rPr>
              <a:t>1. Réallouer 15 k€ de la Région 6 vers la Région 1 ?</a:t>
            </a:r>
          </a:p>
          <a:p>
            <a:pPr algn="l"/>
            <a:r>
              <a:rPr sz="1400" b="0">
                <a:solidFill>
                  <a:srgbClr val="08071E"/>
                </a:solidFill>
                <a:latin typeface="Inter"/>
              </a:rPr>
              <a:t>2. Valider le recrutement en attente sur 3 secteurs ?</a:t>
            </a:r>
          </a:p>
          <a:p>
            <a:pPr algn="l"/>
            <a:r>
              <a:rPr sz="1400" b="0">
                <a:solidFill>
                  <a:srgbClr val="08071E"/>
                </a:solidFill>
                <a:latin typeface="Inter"/>
              </a:rPr>
              <a:t>3. Qualifier 2 missions sans tarif (bloquant) ?</a:t>
            </a:r>
          </a:p>
          <a:p>
            <a:pPr algn="l"/>
            <a:r>
              <a:rPr sz="1400" b="0">
                <a:solidFill>
                  <a:srgbClr val="08071E"/>
                </a:solidFill>
                <a:latin typeface="Inter"/>
              </a:rPr>
              <a:t/>
            </a:r>
          </a:p>
          <a:p>
            <a:pPr algn="l"/>
            <a:r>
              <a:rPr sz="1400" b="0">
                <a:solidFill>
                  <a:srgbClr val="08071E"/>
                </a:solidFill>
                <a:latin typeface="Inter"/>
              </a:rPr>
              <a:t>Source : alertes « arbitrage » et contrôles bloquants. Une décision prise est reprise au COPIL suivant.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